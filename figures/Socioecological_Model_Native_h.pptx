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86"/>
    <p:restoredTop sz="94610"/>
  </p:normalViewPr>
  <p:slideViewPr>
    <p:cSldViewPr snapToGrid="0" snapToObjects="1">
      <p:cViewPr>
        <p:scale>
          <a:sx n="140" d="100"/>
          <a:sy n="140" d="100"/>
        </p:scale>
        <p:origin x="392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5178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FFDE1547-9096-FC45-C47C-6A44E9B01107}"/>
              </a:ext>
            </a:extLst>
          </p:cNvPr>
          <p:cNvGrpSpPr/>
          <p:nvPr/>
        </p:nvGrpSpPr>
        <p:grpSpPr>
          <a:xfrm>
            <a:off x="296090" y="91440"/>
            <a:ext cx="8786949" cy="4611189"/>
            <a:chOff x="1600199" y="792480"/>
            <a:chExt cx="8144722" cy="3587931"/>
          </a:xfrm>
        </p:grpSpPr>
        <p:sp>
          <p:nvSpPr>
            <p:cNvPr id="2" name="Shape 0"/>
            <p:cNvSpPr/>
            <p:nvPr/>
          </p:nvSpPr>
          <p:spPr>
            <a:xfrm>
              <a:off x="1600199" y="792480"/>
              <a:ext cx="8144722" cy="3587931"/>
            </a:xfrm>
            <a:prstGeom prst="ellipse">
              <a:avLst/>
            </a:prstGeom>
            <a:solidFill>
              <a:schemeClr val="accent5"/>
            </a:solidFill>
            <a:ln w="381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1637204" y="1280160"/>
              <a:ext cx="4575469" cy="2632701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Shape 2"/>
            <p:cNvSpPr/>
            <p:nvPr/>
          </p:nvSpPr>
          <p:spPr>
            <a:xfrm>
              <a:off x="1654857" y="1805395"/>
              <a:ext cx="2191481" cy="146304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81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F672014-031A-59BF-1C66-51108751D79A}"/>
              </a:ext>
            </a:extLst>
          </p:cNvPr>
          <p:cNvGrpSpPr/>
          <p:nvPr/>
        </p:nvGrpSpPr>
        <p:grpSpPr>
          <a:xfrm>
            <a:off x="458877" y="1621510"/>
            <a:ext cx="2218765" cy="1221350"/>
            <a:chOff x="1132113" y="3512820"/>
            <a:chExt cx="2056598" cy="950323"/>
          </a:xfrm>
        </p:grpSpPr>
        <p:sp>
          <p:nvSpPr>
            <p:cNvPr id="5" name="Text 3"/>
            <p:cNvSpPr/>
            <p:nvPr/>
          </p:nvSpPr>
          <p:spPr>
            <a:xfrm>
              <a:off x="1132114" y="3512820"/>
              <a:ext cx="12192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000000"/>
                  </a:solidFill>
                </a:rPr>
                <a:t>Personal</a:t>
              </a:r>
              <a:endParaRPr lang="en-US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1132113" y="3754483"/>
              <a:ext cx="2056598" cy="7086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000000"/>
                  </a:solidFill>
                </a:rPr>
                <a:t>Individual preferences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000000"/>
                  </a:solidFill>
                </a:rPr>
                <a:t>Clinical eligibility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000000"/>
                  </a:solidFill>
                </a:rPr>
                <a:t>Body image concerns</a:t>
              </a:r>
              <a:endParaRPr lang="en-US" sz="160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BE0A1A2-B041-8284-52E3-9408434ADAC1}"/>
              </a:ext>
            </a:extLst>
          </p:cNvPr>
          <p:cNvGrpSpPr/>
          <p:nvPr/>
        </p:nvGrpSpPr>
        <p:grpSpPr>
          <a:xfrm>
            <a:off x="2587516" y="1630654"/>
            <a:ext cx="2767741" cy="2028581"/>
            <a:chOff x="518145" y="633550"/>
            <a:chExt cx="2181991" cy="1578422"/>
          </a:xfrm>
        </p:grpSpPr>
        <p:sp>
          <p:nvSpPr>
            <p:cNvPr id="9" name="Text 7"/>
            <p:cNvSpPr/>
            <p:nvPr/>
          </p:nvSpPr>
          <p:spPr>
            <a:xfrm>
              <a:off x="518145" y="633550"/>
              <a:ext cx="1687286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000000"/>
                  </a:solidFill>
                </a:rPr>
                <a:t>Interpersonal</a:t>
              </a:r>
              <a:endParaRPr lang="en-US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587807" y="756551"/>
              <a:ext cx="2112329" cy="145542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000000"/>
                  </a:solidFill>
                </a:rPr>
                <a:t>Patient-Provider Communication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000000"/>
                  </a:solidFill>
                </a:rPr>
                <a:t>Information quality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000000"/>
                  </a:solidFill>
                </a:rPr>
                <a:t>Consultation time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000000"/>
                  </a:solidFill>
                </a:rPr>
                <a:t>Visual representation</a:t>
              </a:r>
              <a:endParaRPr lang="en-US" sz="16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000000"/>
                  </a:solidFill>
                </a:rPr>
                <a:t>Communication style</a:t>
              </a:r>
              <a:endParaRPr lang="en-US" sz="1600" dirty="0"/>
            </a:p>
          </p:txBody>
        </p:sp>
      </p:grpSp>
      <p:sp>
        <p:nvSpPr>
          <p:cNvPr id="15" name="Text 13"/>
          <p:cNvSpPr/>
          <p:nvPr/>
        </p:nvSpPr>
        <p:spPr>
          <a:xfrm>
            <a:off x="5787283" y="1621510"/>
            <a:ext cx="2367605" cy="3525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0000"/>
                </a:solidFill>
              </a:rPr>
              <a:t>Systemic</a:t>
            </a:r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FB22E3D-E11F-9188-9269-A1D4EC8A39FE}"/>
              </a:ext>
            </a:extLst>
          </p:cNvPr>
          <p:cNvGrpSpPr/>
          <p:nvPr/>
        </p:nvGrpSpPr>
        <p:grpSpPr>
          <a:xfrm>
            <a:off x="5159776" y="1971799"/>
            <a:ext cx="2141866" cy="1338301"/>
            <a:chOff x="7088777" y="688794"/>
            <a:chExt cx="1985320" cy="1041322"/>
          </a:xfrm>
        </p:grpSpPr>
        <p:sp>
          <p:nvSpPr>
            <p:cNvPr id="16" name="Text 14"/>
            <p:cNvSpPr/>
            <p:nvPr/>
          </p:nvSpPr>
          <p:spPr>
            <a:xfrm>
              <a:off x="7088777" y="688794"/>
              <a:ext cx="188105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000000"/>
                  </a:solidFill>
                </a:rPr>
                <a:t>Financial Toxicity</a:t>
              </a:r>
              <a:endParaRPr lang="en-US" sz="13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7193045" y="1018244"/>
              <a:ext cx="1881052" cy="7118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000000"/>
                  </a:solidFill>
                </a:rPr>
                <a:t>55% financial strain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600" i="1" dirty="0">
                  <a:solidFill>
                    <a:srgbClr val="000000"/>
                  </a:solidFill>
                </a:rPr>
                <a:t>(2.3× national average)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000000"/>
                  </a:solidFill>
                </a:rPr>
                <a:t>Lost income concerns</a:t>
              </a:r>
              <a:endParaRPr lang="en-US" sz="160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76F8204-6328-F889-3EAA-F99942F63DD3}"/>
              </a:ext>
            </a:extLst>
          </p:cNvPr>
          <p:cNvGrpSpPr/>
          <p:nvPr/>
        </p:nvGrpSpPr>
        <p:grpSpPr>
          <a:xfrm>
            <a:off x="7125498" y="1972496"/>
            <a:ext cx="2018501" cy="1532289"/>
            <a:chOff x="6923313" y="3959406"/>
            <a:chExt cx="1870972" cy="1192264"/>
          </a:xfrm>
        </p:grpSpPr>
        <p:sp>
          <p:nvSpPr>
            <p:cNvPr id="20" name="Text 18"/>
            <p:cNvSpPr/>
            <p:nvPr/>
          </p:nvSpPr>
          <p:spPr>
            <a:xfrm>
              <a:off x="6984276" y="3959406"/>
              <a:ext cx="1541417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000000"/>
                  </a:solidFill>
                </a:rPr>
                <a:t>Medical Mistrust</a:t>
              </a:r>
              <a:endParaRPr lang="en-US" sz="13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6923313" y="4315101"/>
              <a:ext cx="1870972" cy="83656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000000"/>
                  </a:solidFill>
                </a:rPr>
                <a:t>System distrust (36%)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000000"/>
                  </a:solidFill>
                </a:rPr>
                <a:t>Historical context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000000"/>
                  </a:solidFill>
                </a:rPr>
                <a:t>Institutional barriers</a:t>
              </a:r>
              <a:endParaRPr lang="en-US" sz="16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600" dirty="0"/>
            </a:p>
          </p:txBody>
        </p:sp>
      </p:grpSp>
      <p:sp>
        <p:nvSpPr>
          <p:cNvPr id="24" name="Text 22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04040"/>
                </a:solidFill>
              </a:rPr>
              <a:t>Adapted from McLeroy et al. (1988) Ecological Framework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1246</TotalTime>
  <Words>58</Words>
  <Application>Microsoft Macintosh PowerPoint</Application>
  <PresentationFormat>On-screen Show (16:9)</PresentationFormat>
  <Paragraphs>21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Socioecological Model - Breast Reconstruction Study</dc:title>
  <dc:subject>PptxGenJS Presentation</dc:subject>
  <dc:creator>Mundy et al.</dc:creator>
  <cp:lastModifiedBy>Shakes Dlamini</cp:lastModifiedBy>
  <cp:revision>3</cp:revision>
  <dcterms:created xsi:type="dcterms:W3CDTF">2025-10-24T02:00:00Z</dcterms:created>
  <dcterms:modified xsi:type="dcterms:W3CDTF">2025-10-24T22:47:19Z</dcterms:modified>
</cp:coreProperties>
</file>